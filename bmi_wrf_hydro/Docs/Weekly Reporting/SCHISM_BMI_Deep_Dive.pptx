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SCHISM BMI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3D8BFD"/>
                </a:solidFill>
                <a:latin typeface="Times New Roman" panose="02020603050405020304"/>
              </a:defRPr>
            </a:pPr>
            <a:r>
              <a:t>Deep Dive: Architecture, Variables, NOAA NextGen, &amp; Production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F0F2F5"/>
                </a:solidFill>
                <a:latin typeface="Times New Roman" panose="02020603050405020304"/>
              </a:defRPr>
            </a:pPr>
            <a:r>
              <a:t>LynkerIntel/SCHISM_BMI Repository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0F2F5"/>
                </a:solidFill>
                <a:latin typeface="Times New Roman" panose="02020603050405020304"/>
              </a:defRPr>
            </a:pPr>
            <a:r>
              <a:t>Mohansai Sathram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F0F2F5"/>
                </a:solidFill>
                <a:latin typeface="Times New Roman" panose="02020603050405020304"/>
              </a:defRPr>
            </a:pPr>
            <a:r>
              <a:t>Dr. Yao Hu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F0F2F5"/>
                </a:solidFill>
                <a:latin typeface="Times New Roman" panose="02020603050405020304"/>
              </a:defRPr>
            </a:pPr>
            <a:r>
              <a:t>February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Presentation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1097280"/>
            <a:ext cx="2057400" cy="347472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280160"/>
            <a:ext cx="502920" cy="50292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imes New Roman" panose="02020603050405020304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" y="1920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Repository &amp;</a:t>
            </a:r>
            <a:br/>
            <a: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26517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33333"/>
                </a:solidFill>
                <a:latin typeface="Times New Roman" panose="02020603050405020304"/>
              </a:defRPr>
            </a:pPr>
            <a:r>
              <a:t>Who built it, the two-layer</a:t>
            </a:r>
            <a:br/>
            <a:r>
              <a:t>design, and wrapper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55555"/>
                </a:solidFill>
                <a:latin typeface="Times New Roman" panose="02020603050405020304"/>
              </a:defRPr>
            </a:pPr>
            <a:r>
              <a:t>Slides 3–6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097280"/>
            <a:ext cx="2057400" cy="347472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19050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0" y="1280160"/>
            <a:ext cx="502920" cy="502920"/>
          </a:xfrm>
          <a:prstGeom prst="ellipse">
            <a:avLst/>
          </a:prstGeom>
          <a:solidFill>
            <a:srgbClr val="0D7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imes New Roman" panose="02020603050405020304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1920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Variables &amp;</a:t>
            </a:r>
            <a:br/>
            <a:r>
              <a:t>Grids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26517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33333"/>
                </a:solidFill>
                <a:latin typeface="Times New Roman" panose="02020603050405020304"/>
              </a:defRPr>
            </a:pPr>
            <a:r>
              <a:t>17 exposed variables, 9 grids,</a:t>
            </a:r>
            <a:br/>
            <a:r>
              <a:t>and the t0/t1 data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55555"/>
                </a:solidFill>
                <a:latin typeface="Times New Roman" panose="02020603050405020304"/>
              </a:defRPr>
            </a:pPr>
            <a:r>
              <a:t>Slides 7–11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1097280"/>
            <a:ext cx="2057400" cy="347472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19050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40680" y="1280160"/>
            <a:ext cx="502920" cy="502920"/>
          </a:xfrm>
          <a:prstGeom prst="ellipse">
            <a:avLst/>
          </a:prstGeom>
          <a:solidFill>
            <a:srgbClr val="C65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imes New Roman" panose="02020603050405020304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1920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NOAA Operations</a:t>
            </a:r>
            <a:br/>
            <a:r>
              <a:t>&amp; NextGen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26517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33333"/>
                </a:solidFill>
                <a:latin typeface="Times New Roman" panose="02020603050405020304"/>
              </a:defRPr>
            </a:pPr>
            <a:r>
              <a:t>ESMF production systems,</a:t>
            </a:r>
            <a:br/>
            <a:r>
              <a:t>NextGen experimental status,</a:t>
            </a:r>
            <a:br/>
            <a:r>
              <a:t>2024 coupling paper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55555"/>
                </a:solidFill>
                <a:latin typeface="Times New Roman" panose="02020603050405020304"/>
              </a:defRPr>
            </a:pPr>
            <a:r>
              <a:t>Slides 12–14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1097280"/>
            <a:ext cx="2057400" cy="3474720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80960" y="1280160"/>
            <a:ext cx="502920" cy="50292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imes New Roman" panose="02020603050405020304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9202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6A1B9A"/>
                </a:solidFill>
                <a:latin typeface="Times New Roman" panose="02020603050405020304"/>
              </a:defRPr>
            </a:pPr>
            <a:r>
              <a:t>Production</a:t>
            </a:r>
            <a:br/>
            <a:r>
              <a:t>Readiness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65176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333333"/>
                </a:solidFill>
                <a:latin typeface="Times New Roman" panose="02020603050405020304"/>
              </a:defRPr>
            </a:pPr>
            <a:r>
              <a:t>Validation status, limitations,</a:t>
            </a:r>
            <a:br/>
            <a:r>
              <a:t>and assessment for our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55555"/>
                </a:solidFill>
                <a:latin typeface="Times New Roman" panose="02020603050405020304"/>
              </a:defRPr>
            </a:pPr>
            <a:r>
              <a:t>Slides 15–17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Who Built the SCHISM BMI and When?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Built by Lynker Technologies (NOAA contractor) for the NextGen Water Resources Modeling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Times New Roman" panose="02020603050405020304"/>
              </a:defRPr>
            </a:pPr>
            <a:r>
              <a:t>Key People: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25880"/>
          <a:ext cx="84124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292608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Person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Organization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Jason Ducker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Primary developer, NextGen Forcings Director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Lynker Technologies (NOAA OWP contractor)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Joseph Zhang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SCHISM lead developer, collaborator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VIMS (Virginia Institute of Marine Science)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Phil Miller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NextGen framework integration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NOAA OWP (Office of Water Prediction)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7432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Times New Roman" panose="02020603050405020304"/>
              </a:defRPr>
            </a:pPr>
            <a:r>
              <a:t>Development Timeline: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017520"/>
            <a:ext cx="84124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Dec 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10896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Times New Roman" panose="02020603050405020304"/>
              </a:defRPr>
            </a:pPr>
            <a:r>
              <a:t>Jason Ducker creates LynkerIntel/SCHISM_BMI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7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Apr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383279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Times New Roman" panose="02020603050405020304"/>
              </a:defRPr>
            </a:pPr>
            <a:r>
              <a:t>schism-dev/schism_NWM_BMI created; Joseph Zhang collaborates on #ifdef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Jun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65760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Times New Roman" panose="02020603050405020304"/>
              </a:defRPr>
            </a:pPr>
            <a:r>
              <a:t>Issue #547 opened on NOAA-OWP/ngen: "Evaluating SCHISM BMI as NextGen Formulation"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0696B"/>
                </a:solidFill>
                <a:latin typeface="Times New Roman" panose="02020603050405020304"/>
              </a:defRPr>
            </a:pPr>
            <a:r>
              <a:t>Oct 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9319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Times New Roman" panose="02020603050405020304"/>
              </a:defRPr>
            </a:pPr>
            <a:r>
              <a:t>Build documentation and wiki published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6A1B9A"/>
                </a:solidFill>
                <a:latin typeface="Times New Roman" panose="02020603050405020304"/>
              </a:defRPr>
            </a:pPr>
            <a:r>
              <a:t>Sep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20624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Two-way NWM↔SCHISM coupling paper published (using ESMF, validates need for BMI)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80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5221F"/>
                </a:solidFill>
                <a:latin typeface="Times New Roman" panose="02020603050405020304"/>
              </a:defRPr>
            </a:pPr>
            <a:r>
              <a:t>Feb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8056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Times New Roman" panose="02020603050405020304"/>
              </a:defRPr>
            </a:pPr>
            <a:r>
              <a:t>Still experimental — not yet in production within NextGen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The Two Layers of SCHISM BMI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SCHISM's BMI has two distinct layers that work together — inline #ifdef blocks + a separate wrapper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4114800" cy="201168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Layer 1: #ifdef Blocks (Inside SCHISM)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7490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5 small code blocks in 3 source files:
  schism_init.F90, schism_step.F90, misc_subs.F90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Activated by: cmake -DUSE_NWM_BMI=ON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Purpose: replace file-based forcing with
  array-based data that BMI can write into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When flag is OFF: blocks are skipped entirely,
  SCHISM runs as a normal standalone model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754880" y="1051560"/>
            <a:ext cx="4023360" cy="201168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19050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Layer 2: BMI Wrapper (bmischism.f90)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41732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Separate file: 1,729 lines of Fortran 2003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Implements all 41 BMI functions by
  extending the abstract bmi type from bmif_2_0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Exposes 17 variables (12 input + 5 output)
  across 9 different grids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From LynkerIntel/SCHISM_BMI repo
  (branch: bmi-integration-master)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65760" y="3246120"/>
            <a:ext cx="8412480" cy="164592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319272"/>
            <a:ext cx="819302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External Caller (NextGen / PyMT / Python)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    |  BMI calls: initialize(), update(), get_value(), set_value()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    v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+---------------------------+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|   bmischism.f90            |  &lt;-- Layer 2: Standard BMI interface (1,729 lines)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|   (BMI Wrapper)            |      Maps 17 variables, 9 grids, IRF control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+-------------+-------------+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  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        |  Internal calls: schism_init(), schism_step(), schism_finalize()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        |  Direct array access: ath3, eta2, pr1/pr2, windx1/windx2, etc.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        v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+---------------------------+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|   SCHISM Source Code       |  &lt;-- Layer 1: #ifdef blocks make arrays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|   (with 5 #ifdef blocks)  |      writable from outside instead of files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+---------------------------+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LynkerIntel/SCHISM_BMI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GitHub: github.com/LynkerIntel/SCHISM_BMI — Branch: bmi-integration-master — Added as git submodule in our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411480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Key Files in src/BMI/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39319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"/>
                <a:gridCol w="164592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Lines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bmischism.f90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1,729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Full BMI wrapper (all 41 functions)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schism_bmi_driver_test.f90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790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Test driver (complete lifecycle test)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bmi.f90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BMI abstract interface (spec copy)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schism_model_container.f90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~50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Config + timestep state container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Official known limitations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754880" y="1051560"/>
            <a:ext cx="4023360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Build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4173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55555"/>
                </a:solidFill>
                <a:latin typeface="Times New Roman" panose="02020603050405020304"/>
              </a:defRPr>
            </a:pPr>
            <a:r>
              <a:t>SCHISM.local.bmi_serial (cmake settings):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645920"/>
            <a:ext cx="3840480" cy="118872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6048" y="1719072"/>
            <a:ext cx="3621024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# Key cmake flags for BMI build: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set(USE_BMI ON)           # Enable BMI wrapper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set(OLDIO ON)             # Required for serial mode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set(BUILD_SHARED_LIBS ON) # Produce .so library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set(NO_PARMETIS ON)       # No mesh partitioning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set(TVD_LIM VL)           # Numerics setting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Produces: libschism_bmi.so (shared library)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5760" y="3611880"/>
            <a:ext cx="8412480" cy="1188720"/>
          </a:xfrm>
          <a:prstGeom prst="roundRect">
            <a:avLst>
              <a:gd name="adj" fmla="val 3000"/>
            </a:avLst>
          </a:prstGeom>
          <a:solidFill>
            <a:srgbClr val="E0F2F1"/>
          </a:solidFill>
          <a:ln w="12700">
            <a:solidFill>
              <a:srgbClr val="006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696B"/>
                </a:solidFill>
                <a:latin typeface="Times New Roman" panose="02020603050405020304"/>
              </a:defRPr>
            </a:pPr>
            <a:r>
              <a:t>How We Have It Set Up in Our Project: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8138160" cy="77724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005072"/>
            <a:ext cx="791870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# Added as git submodule pointing to bmi-integration-master branch: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git submodule add -b bmi-integration-master https://github.com/LynkerIntel/SCHISM_BMI.git SCHISM_BMI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# Our .gitmodules now has 5 submodules: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# wrf_hydro_nwm_public, bmi-fortran, bmi-example-fortran, schism_NWM_BMI, SCHISM_BMI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BMI Wrapper Design: bmischism.f90 (1,729 Lines)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Follows the same patterns as the BMI Heat example — type extension, model container, select case dispatch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411480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Pattern 1: Type Extension + Model Container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931920" cy="114300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3712464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type, extends(bmi) :: bmi_schism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private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type(schism_model) :: model  ! Container holds: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! - iths (current timestep counter)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! - ntime (total timesteps)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! - time_step_size (seconds)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! - given_communicator (MPI handle)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contains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procedure :: initialize =&gt; schism_initialize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procedure :: update =&gt; schism_update  ! ...53 total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end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051560"/>
            <a:ext cx="402336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0972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Pattern 2: IRF Mapping to SCHISM Calls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371600"/>
            <a:ext cx="3840480" cy="114300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6048" y="1444752"/>
            <a:ext cx="3621024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! initialize() -&gt; calls schism_init()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!   Reads mesh, allocates arrays, sets BCs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! update() -&gt; increments iths, then: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!   calls schism_step(iths)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!   (one ocean timestep: solve hydro eqns)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! finalize() -&gt; calls schism_finalize()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!   Deallocates arrays, closes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788920"/>
            <a:ext cx="411480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3464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Pattern 3: Variable Dispatch (select case)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08960"/>
            <a:ext cx="3931920" cy="160020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182112"/>
            <a:ext cx="3712464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! get_value("ETA2", output_array):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select case(name)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case("ETA2")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dest = eta2(1:np)  ! Copy water elevation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bmi_status = BMI_SUCCESS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case("VX")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dest = uu2(1:np, nvrt) ! Surface velocity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bmi_status = BMI_SUCCESS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case default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  bmi_status = BMI_FAILURE ! Unknown var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end select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2788920"/>
            <a:ext cx="4023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28346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A1B9A"/>
                </a:solidFill>
                <a:latin typeface="Times New Roman" panose="02020603050405020304"/>
              </a:defRPr>
            </a:pPr>
            <a:r>
              <a:t>Pattern 4: Global State Access (not embedded)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10896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00">
                <a:solidFill>
                  <a:srgbClr val="6A1B9A"/>
                </a:solidFill>
                <a:latin typeface="Times New Roman" panose="02020603050405020304"/>
              </a:rPr>
              <a:t>• </a:t>
            </a:r>
            <a:r>
              <a:rPr sz="900">
                <a:solidFill>
                  <a:srgbClr val="333333"/>
                </a:solidFill>
                <a:latin typeface="Times New Roman" panose="02020603050405020304"/>
              </a:rPr>
              <a:t>Unlike Heat model (embeds state in type),
  SCHISM stores state in global module variables
  (schism_glbl.F90 — eta2, uu2, vv2, ath3, etc.)</a:t>
            </a:r>
            <a:endParaRPr sz="9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00">
                <a:solidFill>
                  <a:srgbClr val="6A1B9A"/>
                </a:solidFill>
                <a:latin typeface="Times New Roman" panose="02020603050405020304"/>
              </a:rPr>
              <a:t>• </a:t>
            </a:r>
            <a:r>
              <a:rPr sz="900">
                <a:solidFill>
                  <a:srgbClr val="333333"/>
                </a:solidFill>
                <a:latin typeface="Times New Roman" panose="02020603050405020304"/>
              </a:rPr>
              <a:t>Wrapper accesses globals via "use schism_glbl"
  statements — reads/writes arrays directly</a:t>
            </a:r>
            <a:endParaRPr sz="9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00">
                <a:solidFill>
                  <a:srgbClr val="6A1B9A"/>
                </a:solidFill>
                <a:latin typeface="Times New Roman" panose="02020603050405020304"/>
              </a:rPr>
              <a:t>• </a:t>
            </a:r>
            <a:r>
              <a:rPr sz="900">
                <a:solidFill>
                  <a:srgbClr val="333333"/>
                </a:solidFill>
                <a:latin typeface="Times New Roman" panose="02020603050405020304"/>
              </a:rPr>
              <a:t>The model container only holds config +
  timestep tracking (not physics state)</a:t>
            </a:r>
            <a:endParaRPr sz="9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00">
                <a:solidFill>
                  <a:srgbClr val="6A1B9A"/>
                </a:solidFill>
                <a:latin typeface="Times New Roman" panose="02020603050405020304"/>
              </a:rPr>
              <a:t>• </a:t>
            </a:r>
            <a:r>
              <a:rPr sz="900">
                <a:solidFill>
                  <a:srgbClr val="333333"/>
                </a:solidFill>
                <a:latin typeface="Times New Roman" panose="02020603050405020304"/>
              </a:rPr>
              <a:t>This is what we'll do for WRF-Hydro too —
  access RT_DOMAIN(1)%QLINK via module globals</a:t>
            </a:r>
            <a:endParaRPr sz="900">
              <a:solidFill>
                <a:srgbClr val="333333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Input Variables: What Goes INTO SCHISM via BMI (12 Variables)</a:t>
            </a:r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These are values that external models (like WRF-Hydro) or frameworks (NextGen) SEND to SCHISM</a:t>
            </a:r>
          </a:p>
        </p:txBody>
      </p:sp>
      <p:sp>
        <p:nvSpPr>
          <p:cNvPr id="5" name="Rounded Rectangle 4"/>
          <p:cNvSpPr/>
          <p:nvPr>
            <p:custDataLst>
              <p:tags r:id="rId3"/>
            </p:custDataLst>
          </p:nvPr>
        </p:nvSpPr>
        <p:spPr>
          <a:xfrm>
            <a:off x="365760" y="1051560"/>
            <a:ext cx="8412480" cy="32004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548640" y="106984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Boundary Condition Variables (3) — Water entering/leaving the ocean domain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17320"/>
          <a:ext cx="84124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  <a:gridCol w="731520"/>
                <a:gridCol w="265176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Variable Name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What It Is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SCHISM Internal Array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rPr>
                          <a:solidFill>
                            <a:srgbClr val="FF0000"/>
                          </a:solidFill>
                        </a:rPr>
                        <a:t>Q_bnd_source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River discharge at source elements (WRF-Hydro sends this!)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m³/s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ath3 (volume source)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Q_bnd_sink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Water withdrawal at sink elements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m³/s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ath3 (volume sink)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ETA2_bnd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Water level at open ocean boundaries (tides/surge)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ath2 (boundary condition)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>
            <p:custDataLst>
              <p:tags r:id="rId5"/>
            </p:custDataLst>
          </p:nvPr>
        </p:nvSpPr>
        <p:spPr>
          <a:xfrm>
            <a:off x="365760" y="2651760"/>
            <a:ext cx="8412480" cy="32004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9525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548640" y="267004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Atmospheric Forcing Variables (6) — Weather data driving the ocean model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3017520"/>
          <a:ext cx="84124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  <a:gridCol w="731520"/>
                <a:gridCol w="265176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Variable Name</a:t>
                      </a:r>
                    </a:p>
                  </a:txBody>
                  <a:tcPr>
                    <a:solidFill>
                      <a:srgbClr val="0D7C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What It Is</a:t>
                      </a:r>
                    </a:p>
                  </a:txBody>
                  <a:tcPr>
                    <a:solidFill>
                      <a:srgbClr val="0D7C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0D7C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SCHISM Internal Array</a:t>
                      </a:r>
                    </a:p>
                  </a:txBody>
                  <a:tcPr>
                    <a:solidFill>
                      <a:srgbClr val="0D7C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SFCPRS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Surface atmospheric pressure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pr1/pr2 (two timepoints)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TMP2m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Air temperature at 2m above surface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airt1/airt2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U10m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Eastward wind speed at 10m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windx1/windx2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V10m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Northward wind speed at 10m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m/s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windy1/windy2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SPFH2m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Specific humidity at 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kg/kg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shum1/shum2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RAINRATE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Precipitation rate (converted to discharge!)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kg/m²/s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Added to ath3 source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>
            <p:custDataLst>
              <p:tags r:id="rId7"/>
            </p:custDataLst>
          </p:nvPr>
        </p:nvSpPr>
        <p:spPr>
          <a:xfrm>
            <a:off x="365760" y="4572000"/>
            <a:ext cx="8412480" cy="32004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9525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548640" y="4590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Control Variables (3):</a:t>
            </a:r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2377440" y="4590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Times New Roman" panose="02020603050405020304"/>
              </a:defRPr>
            </a:pPr>
            <a:r>
              <a:t>ETA2_dt (boundary update interval), Q_dt (discharge update interval), bmi_mpi_comm_handle (MPI communicator)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Output Variables: What Comes OUT of SCHISM via BMI (5 Variables)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These are values that external models can READ from SCHISM after each timestep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8412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91840"/>
                <a:gridCol w="640080"/>
                <a:gridCol w="310896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Variable Name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What It Is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Source Inside SCHISM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rPr>
                          <a:solidFill>
                            <a:srgbClr val="FF0000"/>
                          </a:solidFill>
                        </a:rPr>
                        <a:t>ETA2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Sea surface water elevation at ALL mesh nodes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Hydrodynamic solver (main output!)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rPr>
                          <a:solidFill>
                            <a:srgbClr val="FF0000"/>
                          </a:solidFill>
                        </a:rPr>
                        <a:t>VX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Eastward water current velocity (surface layer)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m/s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Momentum equation solver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rPr>
                          <a:solidFill>
                            <a:srgbClr val="FF0000"/>
                          </a:solidFill>
                        </a:rPr>
                        <a:t>VY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Northward water current velocity (surface layer)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Momentum equation solver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TROUTE_ETA2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Water elevation at monitoring stations only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Extracted from eta2 at station.in locations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BEDLEVEL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Ocean floor elevation (bathymetry, static)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Depth array (inverted: positive = above datum)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08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Times New Roman" panose="02020603050405020304"/>
              </a:defRPr>
            </a:pPr>
            <a:r>
              <a:t>The Critical Coupling Pair (WRF-Hydro ↔ SCHISM):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383280"/>
            <a:ext cx="8412480" cy="118872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3456432"/>
            <a:ext cx="8193024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WRF-HYDRO (our BMI wrapper)                              SCHISM (existing BMI)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============================                              ====================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QLINK (streamflow)  -----&gt; Q_bnd_source (BMI input) ----&gt; ath3 (source discharge)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CSDMS: channel_water__volume_flow_rate                     River water enters ocean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(future: receive     &lt;---- ETA2 (BMI output)        &lt;---- eta2 (water elevation)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coastal water level)                                      Coastal surge pushes upstream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663440"/>
            <a:ext cx="8412480" cy="32004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Total: 12 input + 5 output = 17 variables  |  Compare: Our WRF-Hydro plan = 2 input + 8 output = 10 variables  |  Heat example = 1 variable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The 9-Grid System: How SCHISM Describes Its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Different variables live on different parts of the unstructured triangular mesh — BMI needs a separate grid for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Spatial Grids (6):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25880"/>
          <a:ext cx="45720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371600"/>
                <a:gridCol w="1005840"/>
                <a:gridCol w="173736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Grid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Variables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All Nodes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unstructured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ETA2, VX, VY, BEDLEVEL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All Elements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RAINRATE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Offshore Boundary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ETA2_bnd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Source Elements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Q_bnd_source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Sink Elements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Q_bnd_sink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Station Points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TROUTE_ETA2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120640" y="10515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Virtual Scalar Grids (3):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0" y="1325880"/>
          <a:ext cx="374904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463040"/>
                <a:gridCol w="182880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Grid</a:t>
                      </a:r>
                    </a:p>
                  </a:txBody>
                  <a:tcPr>
                    <a:solidFill>
                      <a:srgbClr val="0D7C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0D7C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0D7C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ETA2 Timestep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ETA2_dt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Q Timestep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Q_dt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MPI Communicator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bmi_mpi_comm_handle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65760" y="3337560"/>
            <a:ext cx="4572000" cy="155448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3410712"/>
            <a:ext cx="4352544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SCHISM Ocean Domain (Triangular Mesh)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+---+---+---+---+---+---+---+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| / | \ | / | \ | / | \ | / |  Grid 1: All Nodes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+---+---+---+---+---+---+---+    (ETA2, VX, VY, BEDLEVEL)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| \ | / | \ | / | \ | / | \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+---+---+---+---+---+---+---+  Grid 2: Element centers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^                           ^    (RAINRATE -&gt; discharge)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|                     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Grid 3: Ocean boundary      Grid 4: Source elements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4CAF50"/>
                </a:solidFill>
                <a:latin typeface="Consolas" panose="020B0609020204030204"/>
              </a:defRPr>
            </a:pPr>
            <a:r>
              <a:t>  (ETA2_bnd)                  (Q_bnd_source = river mouths)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3337560"/>
            <a:ext cx="3566160" cy="155448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12700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33832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Comparison to WRF-Hydro: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303520" y="3657600"/>
          <a:ext cx="33832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73736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WRF-Hydro Grid</a:t>
                      </a:r>
                    </a:p>
                  </a:txBody>
                  <a:tcPr>
                    <a:solidFill>
                      <a:srgbClr val="C65D0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SCHISM Grid</a:t>
                      </a:r>
                    </a:p>
                  </a:txBody>
                  <a:tcPr>
                    <a:solidFill>
                      <a:srgbClr val="C65D0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Grid 0: 1km LSM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Grid 1: All Nodes (unstructured)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Grid 1: 250m routing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Grid 2: All Elements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Grid 2: Channel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Grids 3-6: Subsets of mesh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The Two-Timepoint (t0/t1) Sliding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SCHISM stores forcing data at TWO time levels and interpolates between them — a clever design for coarse-to-fine coupling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4114800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5221F"/>
                </a:solidFill>
                <a:latin typeface="Times New Roman" panose="02020603050405020304"/>
              </a:defRPr>
            </a:pPr>
            <a:r>
              <a:t>The Problem: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5221F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SCHISM runs with fine timesteps (~100 sec)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5221F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External data arrives at coarse intervals (~1 hr)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C5221F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Without interpolation, forcing "jumps" abruptly
  between updates — causing numerical instability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754880" y="1051560"/>
            <a:ext cx="4023360" cy="1463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097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The Solution: t0/t1 Sliding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3716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Every forcing variable stored as TWO snapshots:
  t0 = old value, t1 = new value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SCHISM interpolates between t0 and t1 during
  each internal timestep (smooth transition)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Each set_value() call slides: old t1 → new t0,
  new data → new t1 (automatic bookkeeping)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65760" y="2697480"/>
            <a:ext cx="8412480" cy="214884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770632"/>
            <a:ext cx="8193024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BEFORE set_value("Q_bnd_source", new_discharge):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t0 = [100, 200, 150]    &lt;-- old values (from 2 updates ago)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t1 = [120, 180, 160]    &lt;-- current values (from last update)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SCHISM interpolates between t0 and t1 for each internal timestep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AFTER set_value("Q_bnd_source", new_discharge):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t0 = [120, 180, 160]    &lt;-- old t1 SLIDES to become new t0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t1 = [140, 220, 170]    &lt;-- new data becomes new t1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Now SCHISM interpolates between NEW t0 and t1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RESULT: Smooth forcing transitions, no jumps, caller only provides data every ~1 hour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Special Case: How Rainfall Becomes River Discharge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RAINRATE is the ONLY input variable that ADDS to existing values — all others REPLACE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4114800" cy="2103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The Conversion: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931920" cy="169164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44752"/>
            <a:ext cx="371246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When set_value("RAINRATE", rainfall_array):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For each mesh element i: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extra_discharge(i) =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 rainfall_rate(i)  x  element_area(i)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    |              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(kg/m2/s)              (m2)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    = m3/s (volume flow rate)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Then ADD to existing source discharge: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ath3(i) = ath3(i) + extra_discharge(i)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(not replace -- accumulate!)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051560"/>
            <a:ext cx="4023360" cy="2103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097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Why This Design?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41732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SCHISM treats ALL water inputs as volume
  sources (m³/s) — unified treatment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Whether from a river or from rain falling on
  the ocean, it's all "water entering the system"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By converting to discharge and adding to ath3,
  SCHISM handles inputs uniformly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000">
                <a:solidFill>
                  <a:srgbClr val="0D7C3E"/>
                </a:solidFill>
                <a:latin typeface="Times New Roman" panose="02020603050405020304"/>
              </a:rPr>
              <a:t>• </a:t>
            </a:r>
            <a:r>
              <a:rPr sz="1000">
                <a:solidFill>
                  <a:srgbClr val="333333"/>
                </a:solidFill>
                <a:latin typeface="Times New Roman" panose="02020603050405020304"/>
              </a:rPr>
              <a:t>Different from WRF-Hydro, where rainfall is a
  separate atmospheric forcing variable</a:t>
            </a:r>
            <a:endParaRPr sz="1000">
              <a:solidFill>
                <a:srgbClr val="333333"/>
              </a:solidFill>
              <a:latin typeface="Times New Roman" panose="020206030504050203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65760" y="3337560"/>
            <a:ext cx="8412480" cy="594360"/>
          </a:xfrm>
          <a:prstGeom prst="roundRect">
            <a:avLst>
              <a:gd name="adj" fmla="val 3000"/>
            </a:avLst>
          </a:prstGeom>
          <a:solidFill>
            <a:srgbClr val="FCE8E6"/>
          </a:solidFill>
          <a:ln w="19050">
            <a:solidFill>
              <a:srgbClr val="C5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6499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5221F"/>
                </a:solidFill>
                <a:latin typeface="Times New Roman" panose="02020603050405020304"/>
              </a:defRPr>
            </a:pPr>
            <a:r>
              <a:t>IMPORTANT: RAINRATE is the ONLY variable that accumulates. All other set_value calls REPLACE existing</a:t>
            </a:r>
            <a:br/>
            <a:r>
              <a:t>values (with the t0/t1 slide pattern). This inconsistency can cause bugs if callers don't account for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Times New Roman" panose="02020603050405020304"/>
              </a:defRPr>
            </a:pPr>
            <a:r>
              <a:t>The t0/t1 Array Pairs for Atmospheric Forcing: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389120"/>
          <a:ext cx="84124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45920"/>
                <a:gridCol w="1645920"/>
                <a:gridCol w="2011680"/>
                <a:gridCol w="192024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BMI Variable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t0 Array (old)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t1 Array (new)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Behavior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Grid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SFCPRS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pr1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pr2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Replace (slide)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All Nodes (#1)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U10m / V10m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windx1 / windy1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windx2 / windy2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Replace (slide)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All Nodes (#1)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RAINRATE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Accumulate (add to ath3)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All Elements (#2)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Where Is NOAA Using SCHISM Today?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SCHISM runs operationally in NOAA forecasting systems — but using ESMF coupling, NOT BMI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8412480" cy="50292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19050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Key Distinction: SCHISM in NOAA production uses ESMF/NUOPC coupling framework — NOT BMI.</a:t>
            </a:r>
            <a:br/>
            <a:r>
              <a:t>The BMI version is experimental, being developed for the NextGen framework.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Times New Roman" panose="02020603050405020304"/>
              </a:defRPr>
            </a:pPr>
            <a:r>
              <a:t>SCHISM in NOAA Operational Systems (ESMF-based, NOT BMI):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11680"/>
          <a:ext cx="8412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91840"/>
                <a:gridCol w="1828800"/>
                <a:gridCol w="164592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System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What It Does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Coupling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STOFS-3D-Atlantic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Total water level forecasts for Atlantic/Gulf coasts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(2.9M nodes, 5.7M elements)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Operational since Jan 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ESMF/NUOPC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STOFS-3D-Pacific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Total water level forecasts for Pacific coast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Planned for late 2025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ESMF/NUOPC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NWM v3.0 TWL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Total water level guidance combining river + ocean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Operational since summer 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ESMF/NUOPC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ICOGS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Inland-Coastal Operational Guidance System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Pre-operational since April 2021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Direct coupling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65760" y="3657600"/>
            <a:ext cx="8412480" cy="118872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3730752"/>
            <a:ext cx="8193024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TODAY (Production - working now):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NWM ---- ESMF/NUOPC ----&gt; SCHISM ----&gt; STOFS forecasts (operational)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 (Earth System Modeling Framework)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================================================================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FUTURE (In Development - what we're building toward):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WRF-Hydro/NWM ---- BMI 2.0 ----&gt; SCHISM ----&gt; NextGen forecasts (experimental)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                 (Basic Model Interface)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The NextGen Framework: Where SCHISM BMI Is Headed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NextGen = NOAA's next-generation modular water modeling framework. Any BMI model can be plugged in or swapped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8412480" cy="210312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24712"/>
            <a:ext cx="819302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NextGen Framework (ngen)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    +----------------------------------------------------------------------+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    |                                                                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    |  +----------------+   +----------------+   +------------------+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    |  | Atmospheric    |   | Hydrologic     |   | Channel Routing  |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    |  | Forcings (BMI) |   | Models (BMI)   |   | t-route (BMI)   |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    |  |                |   |                |   |                  |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    |  | * NWM Forcing  |   | * CFE          |   |  Discharge at   |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    |  | * ERA5         |   | * TOPMODEL     |   |  coastal outlets |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    |  | * AORC         |   | * NoahOWP      |   |                  |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    |  +-------+--------+   +-------+--------+   +--------+---------+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    |          |                    |                      |          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    |          v                    v                      v            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    |  +--------------------------------------------------------------+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    |  |           COASTAL REALIZATION (new! - in development)         |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    |  |   +-------------+              +-------------+                |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    |  |   | SCHISM (BMI) |     OR     | D-Flow FM    |                |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    |  |   | Water levels |            | (BMI)        |                |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    |  |   | Currents     |            |              |                |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    |  |   +-------------+              +-------------+                |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    |  +--------------------------------------------------------------+    |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700">
                <a:solidFill>
                  <a:srgbClr val="4CAF50"/>
                </a:solidFill>
                <a:latin typeface="Consolas" panose="020B0609020204030204"/>
              </a:defRPr>
            </a:pPr>
            <a:r>
              <a:t>    +----------------------------------------------------------------------+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Times New Roman" panose="02020603050405020304"/>
              </a:defRPr>
            </a:pPr>
            <a:r>
              <a:t>SCHISM in NextGen — Remaining Work Items: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566160"/>
          <a:ext cx="8412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71600"/>
                <a:gridCol w="411480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BMI coastal formulation in ngen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SCHISM compiles as ngen formulation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Lake Champlain test case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Created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Used for framework validation testing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Define coastal realization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Config structure being designed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MPI process mapping for coastal models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Multiple cores for SCHISM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Integration with t-route discharge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Map nexus IDs to BMI variable indices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65760" y="4663440"/>
            <a:ext cx="8412480" cy="320040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A1B9A"/>
                </a:solidFill>
                <a:latin typeface="Times New Roman" panose="02020603050405020304"/>
              </a:defRPr>
            </a:pPr>
            <a:r>
              <a:t>GitHub Issue #547 (NOAA-OWP/ngen): "Evaluating SCHISM BMI as a NextGen Formulation" — Opened Jun 2023, still OPEN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The 2024 Two-Way Coupling Paper: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Zhang et al., Hydrology (MDPI), Sep 2024 — Validates the scientific need for our WRF-Hydro BMI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4114800" cy="100584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9525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Paper Details: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Two-Way Coupling of NWM and SCHISM for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Enhanced Coastal Discharge Predictions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Test case: Hurricane Matthew (Oct 2016, SC)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Coupling: CoastalApp/ESMF (not BMI)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51560"/>
            <a:ext cx="4023360" cy="100584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9525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0789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Finding 1: Two-Way Is Better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2801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One-way: NWM doesn't know about storm surge,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rivers keep flowing normally during storms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Two-way: rivers slow when ocean pushes back,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much better discharge predictions during storms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240280"/>
            <a:ext cx="4114800" cy="91440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9525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67712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Finding 2: Tidal Effects on Rivers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Daily tides cause river discharge to oscillate.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One-way NWM completely misses this.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Two-way captures tidal "breathing" of rivers.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240280"/>
            <a:ext cx="4023360" cy="914400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22677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A1B9A"/>
                </a:solidFill>
                <a:latin typeface="Times New Roman" panose="02020603050405020304"/>
              </a:defRPr>
            </a:pPr>
            <a:r>
              <a:t>Finding 3: Peak Discharge Timing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4688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Two-way more accurately predicts WHEN peak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discharge occurs (not just how much).</a:t>
            </a:r>
          </a:p>
          <a:p>
            <a:pPr>
              <a:lnSpc>
                <a:spcPts val="1300"/>
              </a:lnSpc>
              <a:spcAft>
                <a:spcPts val="200"/>
              </a:spcAft>
              <a:defRPr sz="9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Accounts for floodplain water storage.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337560"/>
            <a:ext cx="8412480" cy="594360"/>
          </a:xfrm>
          <a:prstGeom prst="roundRect">
            <a:avLst>
              <a:gd name="adj" fmla="val 3000"/>
            </a:avLst>
          </a:prstGeom>
          <a:solidFill>
            <a:srgbClr val="E0F2F1"/>
          </a:solidFill>
          <a:ln w="19050">
            <a:solidFill>
              <a:srgbClr val="006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6499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696B"/>
                </a:solidFill>
                <a:latin typeface="Times New Roman" panose="02020603050405020304"/>
              </a:defRPr>
            </a:pPr>
            <a:r>
              <a:t>Finding 4: The paper explicitly calls for ESMF → BMI transition for NextGen. Quote: "The proposed shift</a:t>
            </a:r>
            <a:br/>
            <a:r>
              <a:t>from ESMF to BMI for coastal coupling requires innovative solutions." THIS IS EXACTLY WHAT WE'RE BUILDING.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114800"/>
            <a:ext cx="8412480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6052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Times New Roman" panose="02020603050405020304"/>
              </a:defRPr>
            </a:pPr>
            <a:r>
              <a:t>Why This Paper Validates Our Project: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900">
                <a:solidFill>
                  <a:srgbClr val="333333"/>
                </a:solidFill>
                <a:latin typeface="Times New Roman" panose="02020603050405020304"/>
              </a:rPr>
              <a:t>Two-way coupling (requires BMI on BOTH models) produces significantly better results</a:t>
            </a:r>
            <a:endParaRPr sz="9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900">
                <a:solidFill>
                  <a:srgbClr val="333333"/>
                </a:solidFill>
                <a:latin typeface="Times New Roman" panose="02020603050405020304"/>
              </a:rPr>
              <a:t>ESMF → BMI transition is an active research priority recognized by NOAA</a:t>
            </a:r>
            <a:endParaRPr sz="9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00">
                <a:solidFill>
                  <a:srgbClr val="1A56DB"/>
                </a:solidFill>
                <a:latin typeface="Times New Roman" panose="02020603050405020304"/>
              </a:rPr>
              <a:t>• </a:t>
            </a:r>
            <a:r>
              <a:rPr sz="900">
                <a:solidFill>
                  <a:srgbClr val="333333"/>
                </a:solidFill>
                <a:latin typeface="Times New Roman" panose="02020603050405020304"/>
              </a:rPr>
              <a:t>The specific variables we're exposing (streamflow, water elevation) are exactly what the coupling needs</a:t>
            </a:r>
            <a:endParaRPr sz="900">
              <a:solidFill>
                <a:srgbClr val="333333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Does It Work? Current Validation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The SCHISM BMI framework works, but the specific coupling variables we need are flagged as 'not fully validated'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4114800" cy="256032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12700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What Works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393192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D7C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D7C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BMI interface compiles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Working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Initialize/Update/Finalize cycle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Working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Variable querying (names, types, units)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Working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Grid metadata (node counts, connectivity)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Working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MPI communicator passing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Working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Atmospheric forcing via set_value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Working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ETA2 output via get_value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Working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754880" y="1051560"/>
            <a:ext cx="4023360" cy="2560320"/>
          </a:xfrm>
          <a:prstGeom prst="roundRect">
            <a:avLst>
              <a:gd name="adj" fmla="val 3000"/>
            </a:avLst>
          </a:prstGeom>
          <a:solidFill>
            <a:srgbClr val="FCE8E6"/>
          </a:solidFill>
          <a:ln w="12700">
            <a:solidFill>
              <a:srgbClr val="C5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5221F"/>
                </a:solidFill>
                <a:latin typeface="Times New Roman" panose="02020603050405020304"/>
              </a:defRPr>
            </a:pPr>
            <a:r>
              <a:t>NOT Fully Validated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46320" y="1417320"/>
          <a:ext cx="3840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C522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C5221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Water level BCs (ETA2_bnd)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Interpolation timing edge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Source/sink (Q_bnd_source/sink)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Discharge accumulation untested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Two-way data exchange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No real coupling test via BMI yet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Multi-instance SCHISM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Not tested for NextGen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65760" y="3794760"/>
            <a:ext cx="8412480" cy="105156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19050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From the Official LIMITATIONS File (SCHISM_BMI/src/BMI/LIMITATIONS):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100">
                <a:solidFill>
                  <a:srgbClr val="C65D07"/>
                </a:solidFill>
                <a:latin typeface="Times New Roman" panose="02020603050405020304"/>
              </a:rPr>
              <a:t>• </a:t>
            </a:r>
            <a:r>
              <a:rPr sz="1100">
                <a:solidFill>
                  <a:srgbClr val="333333"/>
                </a:solidFill>
                <a:latin typeface="Times New Roman" panose="02020603050405020304"/>
              </a:rPr>
              <a:t>"MPI parallelization is partially implemented for SCHISM driven through BMI"</a:t>
            </a:r>
            <a:endParaRPr sz="1100">
              <a:solidFill>
                <a:srgbClr val="333333"/>
              </a:solidFill>
              <a:latin typeface="Times New Roman" panose="02020603050405020304"/>
            </a:endParaRP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100">
                <a:solidFill>
                  <a:srgbClr val="C65D07"/>
                </a:solidFill>
                <a:latin typeface="Times New Roman" panose="02020603050405020304"/>
              </a:rPr>
              <a:t>• </a:t>
            </a:r>
            <a:r>
              <a:rPr sz="1100">
                <a:solidFill>
                  <a:srgbClr val="333333"/>
                </a:solidFill>
                <a:latin typeface="Times New Roman" panose="02020603050405020304"/>
              </a:rPr>
              <a:t>"Water level and source/sink connectors have not been fully validated yet for SCHISM"</a:t>
            </a:r>
            <a:endParaRPr sz="1100">
              <a:solidFill>
                <a:srgbClr val="333333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Known Limitations from Code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Beyond the official LIMITATIONS file, code analysis reveals additional constraints and design choices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51560"/>
          <a:ext cx="84124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840480"/>
                <a:gridCol w="274320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No grid shape/spacing/origin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Returns BMI_FAILURE — unstructured mesh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has no uniform spacing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Grid functions partially unsupported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Surface layer only for VX/VY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Only top vertical layer of velocity exposed,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not the full 3D field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Limited depth profile access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RAINRATE accumulates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Adds to ath3 instead of replacing —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inconsistent with other set_value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Can cause bugs if not accounted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No set_value for outputs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Cannot write INTO eta2 or VX/VY from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outside — they are read-only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One-way data flow for outputs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First timestep cold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At t=0, no boundary data exists yet.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SCHISM uses zeros until first set_value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May cause initial transients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OLDIO required for serial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Must use OLDIO=ON for single-core runs.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Scribe I/O doesn't work in serial mode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Build configuration constraint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No CSDMS Standard Names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Uses custom names (Q_bnd_source, ETA2)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not CSDMS (channel_water__volume_flow_rate)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Not compatible with PyMT catalog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Not registered with CSDMS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No pymt_schism package exists.</a:t>
                      </a:r>
                    </a:p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Not in CSDMS model repository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Can't use PyMT coupling framework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Production Readiness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Is the SCHISM BMI ready for production use? A clear-eyed evaluation of the current state.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8412480" cy="64008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25400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Verdict: NOT production ready. The SCHISM BMI is a functional experimental prototype.</a:t>
            </a:r>
            <a:br/>
            <a:r>
              <a:t>The framework integration works, but key coupling variables remain unvalidated.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920240"/>
            <a:ext cx="2743200" cy="292608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19050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2011680"/>
            <a:ext cx="777240" cy="777240"/>
          </a:xfrm>
          <a:prstGeom prst="ellipse">
            <a:avLst/>
          </a:prstGeom>
          <a:solidFill>
            <a:srgbClr val="0D7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Times New Roman" panose="02020603050405020304"/>
              </a:defRPr>
            </a:pPr>
            <a:r>
              <a:t>7/10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880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Framework</a:t>
            </a:r>
            <a:br/>
            <a:r>
              <a:t>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3375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The BMI interface (all 41 functions)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compiles and runs correctly.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Init/update/finalize cycle works.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Test driver validates lifecycle.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</a:p>
          <a:p>
            <a:pPr>
              <a:lnSpc>
                <a:spcPts val="12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This part IS production-ready.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920240"/>
            <a:ext cx="2743200" cy="2926080"/>
          </a:xfrm>
          <a:prstGeom prst="roundRect">
            <a:avLst>
              <a:gd name="adj" fmla="val 3000"/>
            </a:avLst>
          </a:prstGeom>
          <a:solidFill>
            <a:srgbClr val="FCE8E6"/>
          </a:solidFill>
          <a:ln w="19050">
            <a:solidFill>
              <a:srgbClr val="C52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60520" y="2011680"/>
            <a:ext cx="777240" cy="777240"/>
          </a:xfrm>
          <a:prstGeom prst="ellipse">
            <a:avLst/>
          </a:prstGeom>
          <a:solidFill>
            <a:srgbClr val="C52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Times New Roman" panose="02020603050405020304"/>
              </a:defRPr>
            </a:pPr>
            <a:r>
              <a:t>3/10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880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C5221F"/>
                </a:solidFill>
                <a:latin typeface="Times New Roman" panose="02020603050405020304"/>
              </a:defRPr>
            </a:pPr>
            <a:r>
              <a:t>Coupling</a:t>
            </a:r>
            <a:br/>
            <a:r>
              <a:t>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3375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Water level + source/sink (the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exact variables needed for coupling)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are NOT fully validated.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No real two-model coupling test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has been run through BMI yet.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</a:p>
          <a:p>
            <a:pPr>
              <a:lnSpc>
                <a:spcPts val="12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This part is NOT ready.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920240"/>
            <a:ext cx="2743200" cy="292608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19050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6600" y="2011680"/>
            <a:ext cx="777240" cy="777240"/>
          </a:xfrm>
          <a:prstGeom prst="ellipse">
            <a:avLst/>
          </a:prstGeom>
          <a:solidFill>
            <a:srgbClr val="C65D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Times New Roman" panose="02020603050405020304"/>
              </a:defRPr>
            </a:pPr>
            <a:r>
              <a:t>5/10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880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NextGen</a:t>
            </a:r>
            <a:br/>
            <a:r>
              <a:t>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3375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SCHISM compiles as ngen formulation.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Lake Champlain test case exists.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But MPI mapping, config structure,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and t-route integration are all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still in progress.</a:t>
            </a:r>
          </a:p>
          <a:p>
            <a:pPr>
              <a:lnSpc>
                <a:spcPts val="12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</a:p>
          <a:p>
            <a:pPr>
              <a:lnSpc>
                <a:spcPts val="1200"/>
              </a:lnSpc>
              <a:spcAft>
                <a:spcPts val="200"/>
              </a:spcAft>
              <a:defRPr sz="8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This part is IN PROGRESS.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Key Takeaways for Our WRF-Hydro BMI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What we can learn from the SCHISM BMI implementation — patterns to follow and improvements to make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4114800" cy="219456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12700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Design Patterns to Follow: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17320"/>
          <a:ext cx="39319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0312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SCHISM Pattern</a:t>
                      </a:r>
                    </a:p>
                  </a:txBody>
                  <a:tcPr>
                    <a:solidFill>
                      <a:srgbClr val="0D7C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Apply to WRF-Hydro</a:t>
                      </a:r>
                    </a:p>
                  </a:txBody>
                  <a:tcPr>
                    <a:solidFill>
                      <a:srgbClr val="0D7C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Separate wrapper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Write bmi_wrf_hydro.f90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Model container for config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Container for WRF-Hydro state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t0/t1 pattern for forcing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Consider for input variables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Multiple grids for domains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Grid 0 (1km), Grid 1 (250m), Grid 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MPI communicator via set_value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Same pattern for parallel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Serial-first approach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Start serial, add MPI later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754880" y="1051560"/>
            <a:ext cx="4023360" cy="219456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Our Improvements Over SCHISM: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46320" y="1417320"/>
          <a:ext cx="3840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SCHISM Approach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Our Improvement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Custom names (Q_bnd_source)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CSDMS Standard Names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Not registered with CSDMS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Plan to register + babelize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No pymt_schism plugin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Create pymt_wrfhydro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Limited validation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Validate vs standalone from day 1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Times New Roman" panose="02020603050405020304"/>
              </a:defRPr>
            </a:pPr>
            <a:r>
              <a:t>Variable Count Comparison: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703320"/>
          <a:ext cx="84124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1188720"/>
                <a:gridCol w="1188720"/>
                <a:gridCol w="228600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Input Vars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Output Vars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 panose="02020603050405020304"/>
                        </a:defRPr>
                      </a:pPr>
                      <a:r>
                        <a:t>Grids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SCHISM BMI (existing)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WRF-Hydro BMI (our plan)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BMI Heat Example (reference)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Times New Roman" panose="02020603050405020304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65760" y="4663440"/>
            <a:ext cx="8412480" cy="320040"/>
          </a:xfrm>
          <a:prstGeom prst="roundRect">
            <a:avLst>
              <a:gd name="adj" fmla="val 3000"/>
            </a:avLst>
          </a:prstGeom>
          <a:solidFill>
            <a:srgbClr val="F3E5F5"/>
          </a:solidFill>
          <a:ln w="952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A1B9A"/>
                </a:solidFill>
                <a:latin typeface="Times New Roman" panose="02020603050405020304"/>
              </a:defRPr>
            </a:pPr>
            <a:r>
              <a:t>Our WRF-Hydro BMI scope is between the simple heat example and the complex SCHISM — a very reasonable starting point.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Summary: SCHISM BMI Key Facts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8412480" cy="3200400"/>
          </a:xfrm>
          <a:prstGeom prst="roundRect">
            <a:avLst>
              <a:gd name="adj" fmla="val 3000"/>
            </a:avLst>
          </a:prstGeom>
          <a:solidFill>
            <a:srgbClr val="263238"/>
          </a:solidFill>
          <a:ln w="635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8193024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SCHISM BMI -- Key Facts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============================================================================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WHO:   Jason Ducker (Lynker/NOAA OWP) + Joseph Zhang (VIMS)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WHEN:  Development started December 2022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WHERE: LynkerIntel/SCHISM_BMI repo, branch: bmi-integration-master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WHAT:  bmischism.f90 (1,729 lines) + 5 #ifdef blocks in SCHISM source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VARIABLES: 12 input + 5 output = 17 total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GRIDS:     9 (6 spatial + 3 virtual scalar)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KEY IN:    Q_bnd_source (discharge from rivers -- what WRF-Hydro sends)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KEY OUT:   ETA2 (water elevation -- for 2-way coupling back to WRF-Hydro)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STATUS: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[OK]  Framework works (init/update/finalize cycle)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[!!]  Water level + source/sink NOT fully validated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[NO]  Not in production -- experimental for NextGen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  [NO]  Not registered with CSDMS, no pymt_schism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NOAA TODAY:     SCHISM runs in STOFS/NWM via ESMF (not BMI)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NOAA FUTURE:    SCHISM in NextGen via BMI (in development)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4CAF50"/>
                </a:solidFill>
                <a:latin typeface="Consolas" panose="020B0609020204030204"/>
              </a:defRPr>
            </a:pPr>
            <a:r>
              <a:t>  OUR PROJECT:    Building the WRF-Hydro side of this coupling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46227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Bottom Line: The SCHISM BMI is a solid reference implementation, but NOT production ready. Our WRF-Hydro BMI</a:t>
            </a:r>
            <a:br/>
            <a:r>
              <a:t>can learn from its patterns while improving with CSDMS Standard Names and proper validation.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A1A2E"/>
                </a:solidFill>
                <a:latin typeface="Times New Roman" panose="02020603050405020304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Questions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560320"/>
            <a:ext cx="2560320" cy="201168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A56DB"/>
                </a:solidFill>
                <a:latin typeface="Times New Roman" panose="02020603050405020304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Two-layer design: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5 inline #ifdef blocks +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1,729-line bmischism.f90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wrapper. Follows same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patterns as BMI Heat.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560320"/>
            <a:ext cx="2560320" cy="2011680"/>
          </a:xfrm>
          <a:prstGeom prst="roundRect">
            <a:avLst>
              <a:gd name="adj" fmla="val 3000"/>
            </a:avLst>
          </a:prstGeom>
          <a:solidFill>
            <a:srgbClr val="FEF3E2"/>
          </a:solidFill>
          <a:ln w="19050">
            <a:solidFill>
              <a:srgbClr val="C65D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C65D07"/>
                </a:solidFill>
                <a:latin typeface="Times New Roman" panose="02020603050405020304"/>
              </a:defRPr>
            </a:pPr>
            <a:r>
              <a:t>NOAA Usage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SCHISM runs operationally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in STOFS via ESMF.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BMI version is experimental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for NextGen framework.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Not production ready.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560320"/>
            <a:ext cx="2560320" cy="201168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 w="19050">
            <a:solidFill>
              <a:srgbClr val="0D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D7C3E"/>
                </a:solidFill>
                <a:latin typeface="Times New Roman" panose="02020603050405020304"/>
              </a:defRPr>
            </a:pPr>
            <a:r>
              <a:t>Our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WRF-Hydro BMI wrapper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learns from SCHISM patterns.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10 variables, 3 grids.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CSDS names + validation</a:t>
            </a:r>
          </a:p>
          <a:p>
            <a:pPr>
              <a:lnSpc>
                <a:spcPts val="1400"/>
              </a:lnSpc>
              <a:spcAft>
                <a:spcPts val="200"/>
              </a:spcAft>
              <a:defRPr sz="1000" b="0">
                <a:solidFill>
                  <a:srgbClr val="333333"/>
                </a:solidFill>
                <a:latin typeface="Times New Roman" panose="02020603050405020304"/>
              </a:defRPr>
            </a:pPr>
            <a:r>
              <a:t>from day 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646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Times New Roman" panose="02020603050405020304"/>
              </a:defRPr>
            </a:pPr>
            <a:r>
              <a:t>SCHISM BMI Deep Dive  |  Mohansai Sathram  |  February 2026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6.56,&quot;left&quot;:28.8,&quot;top&quot;:8.64,&quot;width&quot;:662.4}"/>
</p:tagLst>
</file>

<file path=ppt/tags/tag2.xml><?xml version="1.0" encoding="utf-8"?>
<p:tagLst xmlns:p="http://schemas.openxmlformats.org/presentationml/2006/main">
  <p:tag name="KSO_WM_DIAGRAM_VIRTUALLY_FRAME" val="{&quot;height&quot;:376.56,&quot;left&quot;:28.8,&quot;top&quot;:8.64,&quot;width&quot;:662.4}"/>
</p:tagLst>
</file>

<file path=ppt/tags/tag3.xml><?xml version="1.0" encoding="utf-8"?>
<p:tagLst xmlns:p="http://schemas.openxmlformats.org/presentationml/2006/main">
  <p:tag name="KSO_WM_DIAGRAM_VIRTUALLY_FRAME" val="{&quot;height&quot;:376.56,&quot;left&quot;:28.8,&quot;top&quot;:8.64,&quot;width&quot;:662.4}"/>
</p:tagLst>
</file>

<file path=ppt/tags/tag4.xml><?xml version="1.0" encoding="utf-8"?>
<p:tagLst xmlns:p="http://schemas.openxmlformats.org/presentationml/2006/main">
  <p:tag name="KSO_WM_DIAGRAM_VIRTUALLY_FRAME" val="{&quot;height&quot;:376.56,&quot;left&quot;:28.8,&quot;top&quot;:8.64,&quot;width&quot;:662.4}"/>
</p:tagLst>
</file>

<file path=ppt/tags/tag5.xml><?xml version="1.0" encoding="utf-8"?>
<p:tagLst xmlns:p="http://schemas.openxmlformats.org/presentationml/2006/main">
  <p:tag name="KSO_WM_DIAGRAM_VIRTUALLY_FRAME" val="{&quot;height&quot;:376.56,&quot;left&quot;:28.8,&quot;top&quot;:8.64,&quot;width&quot;:662.4}"/>
</p:tagLst>
</file>

<file path=ppt/tags/tag6.xml><?xml version="1.0" encoding="utf-8"?>
<p:tagLst xmlns:p="http://schemas.openxmlformats.org/presentationml/2006/main">
  <p:tag name="KSO_WM_DIAGRAM_VIRTUALLY_FRAME" val="{&quot;height&quot;:376.56,&quot;left&quot;:28.8,&quot;top&quot;:8.64,&quot;width&quot;:662.4}"/>
</p:tagLst>
</file>

<file path=ppt/tags/tag7.xml><?xml version="1.0" encoding="utf-8"?>
<p:tagLst xmlns:p="http://schemas.openxmlformats.org/presentationml/2006/main">
  <p:tag name="KSO_WM_DIAGRAM_VIRTUALLY_FRAME" val="{&quot;height&quot;:376.56,&quot;left&quot;:28.8,&quot;top&quot;:8.64,&quot;width&quot;:662.4}"/>
</p:tagLst>
</file>

<file path=ppt/tags/tag8.xml><?xml version="1.0" encoding="utf-8"?>
<p:tagLst xmlns:p="http://schemas.openxmlformats.org/presentationml/2006/main">
  <p:tag name="KSO_WM_DIAGRAM_VIRTUALLY_FRAME" val="{&quot;height&quot;:376.56,&quot;left&quot;:28.8,&quot;top&quot;:8.64,&quot;width&quot;:662.4}"/>
</p:tagLst>
</file>

<file path=ppt/tags/tag9.xml><?xml version="1.0" encoding="utf-8"?>
<p:tagLst xmlns:p="http://schemas.openxmlformats.org/presentationml/2006/main">
  <p:tag name="KSO_WM_DIAGRAM_VIRTUALLY_FRAME" val="{&quot;height&quot;:376.56,&quot;left&quot;:28.8,&quot;top&quot;:8.64,&quot;width&quot;:662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22427</Words>
  <Application>WPS Presentation</Application>
  <PresentationFormat>On-screen Show (4:3)</PresentationFormat>
  <Paragraphs>1131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SimSun</vt:lpstr>
      <vt:lpstr>Wingdings</vt:lpstr>
      <vt:lpstr>Arial</vt:lpstr>
      <vt:lpstr>Times New Roman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mohansai</cp:lastModifiedBy>
  <cp:revision>2</cp:revision>
  <dcterms:created xsi:type="dcterms:W3CDTF">2013-01-27T09:14:00Z</dcterms:created>
  <dcterms:modified xsi:type="dcterms:W3CDTF">2026-02-20T21:38:06Z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FB1B8557AF3644A7A5CB800CA04BFD3F_12</vt:lpwstr>
  </property>
  <property fmtid="{D5CDD505-2E9C-101B-9397-08002B2CF9AE}" pid="3" name="KSOProductBuildVer">
    <vt:lpwstr>1033-12.2.0.23196</vt:lpwstr>
  </property>
</Properties>
</file>